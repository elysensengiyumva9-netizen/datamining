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66" r:id="rId3"/>
    <p:sldId id="258" r:id="rId4"/>
    <p:sldId id="259" r:id="rId5"/>
    <p:sldId id="260" r:id="rId6"/>
    <p:sldId id="270" r:id="rId7"/>
    <p:sldId id="261" r:id="rId8"/>
    <p:sldId id="268" r:id="rId9"/>
    <p:sldId id="262" r:id="rId10"/>
    <p:sldId id="264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5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CD65FE-138D-4DA1-B1B7-D9E0CEAE528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97BF0-D5AF-4498-BF96-1D014C277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71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EAFF6-D412-4078-BA5E-853FB4314F53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C704-28CA-4A97-83E7-DA33FA863160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6828-2EFA-49C3-A5EE-2C4CD1BFC390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6B90-90C2-493A-9044-00B48FA682C4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E3F7-C8F6-4E4A-8E6F-8636E5DA7999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6AF-5C7A-4757-806A-141D7BBED0BC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A447-613B-450F-A65C-912EE7A2D880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C8E7-E761-45FE-9C1E-75B60C347D5A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E30AC-C720-42EA-98C6-1CAA2F1F70F3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9EE27-7543-4D08-B343-71152671BC50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66E1-1847-4848-A295-68D895975DA5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9871F-3B67-4833-8801-0A242D745B1D}" type="datetime2">
              <a:rPr lang="en-US" smtClean="0"/>
              <a:t>Thursday, February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C407-62D4-BCBE-C9D3-09E3C8B9A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110" y="19589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Multi-Campus Education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5D2E2-F1F9-2E9A-A914-EEE767790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5910" y="3673476"/>
            <a:ext cx="6400800" cy="1752600"/>
          </a:xfrm>
        </p:spPr>
        <p:txBody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12 Members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IRAKIZA Ange Marie                       25RP21695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NSENGIYUMVA Elyse                    25RP21686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UWINEZA Eric                                 25RP18347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6F281-E863-DAF2-77EA-12209565A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397" y="423543"/>
            <a:ext cx="6541453" cy="100139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8E788D8-5DBC-6AE5-5E56-29C611DE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99510" y="6289040"/>
            <a:ext cx="2133600" cy="365125"/>
          </a:xfrm>
        </p:spPr>
        <p:txBody>
          <a:bodyPr/>
          <a:lstStyle/>
          <a:p>
            <a:fld id="{AB25273E-64D7-459B-8DED-76A5F5D22D40}" type="datetime2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February 12, 2026</a:t>
            </a:fld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02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4A68-90A5-6D0B-BB18-E07433642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47345"/>
            <a:ext cx="7772400" cy="88709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Preprocessing Workflow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A345F8B4-091F-0710-8CA8-AA10D9345844}"/>
              </a:ext>
            </a:extLst>
          </p:cNvPr>
          <p:cNvSpPr/>
          <p:nvPr/>
        </p:nvSpPr>
        <p:spPr>
          <a:xfrm>
            <a:off x="731520" y="1051560"/>
            <a:ext cx="2377440" cy="2103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37160" tIns="137160" rIns="137160" rtlCol="0" anchor="t"/>
          <a:lstStyle/>
          <a:p>
            <a:pPr algn="ctr"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 1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Loading</a:t>
            </a:r>
          </a:p>
          <a:p>
            <a:pPr algn="l">
              <a:defRPr sz="1100">
                <a:solidFill>
                  <a:srgbClr val="F0F0F0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Load 9 CSV files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Add metadata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Profile quality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100">
                <a:solidFill>
                  <a:srgbClr val="F0F0F0"/>
                </a:solidFill>
              </a:defRPr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ight Arrow 3">
            <a:extLst>
              <a:ext uri="{FF2B5EF4-FFF2-40B4-BE49-F238E27FC236}">
                <a16:creationId xmlns:a16="http://schemas.microsoft.com/office/drawing/2014/main" id="{6986C369-552C-6385-349F-960A4E274242}"/>
              </a:ext>
            </a:extLst>
          </p:cNvPr>
          <p:cNvSpPr/>
          <p:nvPr/>
        </p:nvSpPr>
        <p:spPr>
          <a:xfrm>
            <a:off x="3154680" y="2148840"/>
            <a:ext cx="274320" cy="27432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216A07F8-A737-8135-E2E2-023A904F497B}"/>
              </a:ext>
            </a:extLst>
          </p:cNvPr>
          <p:cNvSpPr/>
          <p:nvPr/>
        </p:nvSpPr>
        <p:spPr>
          <a:xfrm>
            <a:off x="3417570" y="1051560"/>
            <a:ext cx="2377440" cy="201168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37160" tIns="137160" rIns="137160" rtlCol="0" anchor="t"/>
          <a:lstStyle/>
          <a:p>
            <a:pPr algn="ctr"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algn="l">
              <a:defRPr sz="1100">
                <a:solidFill>
                  <a:srgbClr val="F0F0F0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Remove missing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Remove duplicates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Treat outliers</a:t>
            </a:r>
          </a:p>
        </p:txBody>
      </p:sp>
      <p:sp>
        <p:nvSpPr>
          <p:cNvPr id="15" name="Right Arrow 5">
            <a:extLst>
              <a:ext uri="{FF2B5EF4-FFF2-40B4-BE49-F238E27FC236}">
                <a16:creationId xmlns:a16="http://schemas.microsoft.com/office/drawing/2014/main" id="{9258CF77-82AC-570D-58E2-57127D081790}"/>
              </a:ext>
            </a:extLst>
          </p:cNvPr>
          <p:cNvSpPr/>
          <p:nvPr/>
        </p:nvSpPr>
        <p:spPr>
          <a:xfrm>
            <a:off x="5897880" y="2148840"/>
            <a:ext cx="274320" cy="27432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08EF1C08-2A02-D0CC-EEC8-512098DB2578}"/>
              </a:ext>
            </a:extLst>
          </p:cNvPr>
          <p:cNvSpPr/>
          <p:nvPr/>
        </p:nvSpPr>
        <p:spPr>
          <a:xfrm>
            <a:off x="6183630" y="1143000"/>
            <a:ext cx="2377440" cy="201168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37160" tIns="137160" rIns="137160" rtlCol="0" anchor="t"/>
          <a:lstStyle/>
          <a:p>
            <a:pPr algn="ctr"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pPr algn="l">
              <a:defRPr sz="1100">
                <a:solidFill>
                  <a:srgbClr val="F0F0F0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Scale features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Encode categories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Bin performance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2AC6C105-E1F0-DFDE-7159-26DD27E15255}"/>
              </a:ext>
            </a:extLst>
          </p:cNvPr>
          <p:cNvSpPr/>
          <p:nvPr/>
        </p:nvSpPr>
        <p:spPr>
          <a:xfrm>
            <a:off x="685800" y="3429000"/>
            <a:ext cx="2377440" cy="201168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37160" tIns="137160" rIns="137160" rtlCol="0" anchor="t"/>
          <a:lstStyle/>
          <a:p>
            <a:pPr algn="ctr"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  <a:p>
            <a:pPr algn="l">
              <a:defRPr sz="1100">
                <a:solidFill>
                  <a:srgbClr val="F0F0F0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Merge datasets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Resolve conflicts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Unify schema</a:t>
            </a: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42BEBD0E-BAD1-7691-2E41-5822CE6790C3}"/>
              </a:ext>
            </a:extLst>
          </p:cNvPr>
          <p:cNvSpPr/>
          <p:nvPr/>
        </p:nvSpPr>
        <p:spPr>
          <a:xfrm>
            <a:off x="3154680" y="4617720"/>
            <a:ext cx="274320" cy="27432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EEF49BAE-28BD-3224-FFC5-F69E517B3DF4}"/>
              </a:ext>
            </a:extLst>
          </p:cNvPr>
          <p:cNvSpPr/>
          <p:nvPr/>
        </p:nvSpPr>
        <p:spPr>
          <a:xfrm>
            <a:off x="3457575" y="3474720"/>
            <a:ext cx="2377440" cy="201168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37160" tIns="137160" rIns="137160" rtlCol="0" anchor="t"/>
          <a:lstStyle/>
          <a:p>
            <a:pPr algn="ctr"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5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</a:p>
          <a:p>
            <a:pPr algn="l">
              <a:defRPr sz="1100">
                <a:solidFill>
                  <a:srgbClr val="F0F0F0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Remove irrelevant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Drop low-variance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Select features</a:t>
            </a:r>
          </a:p>
        </p:txBody>
      </p:sp>
      <p:sp>
        <p:nvSpPr>
          <p:cNvPr id="20" name="Right Arrow 11">
            <a:extLst>
              <a:ext uri="{FF2B5EF4-FFF2-40B4-BE49-F238E27FC236}">
                <a16:creationId xmlns:a16="http://schemas.microsoft.com/office/drawing/2014/main" id="{A490BA7C-C8F0-4073-FA9A-6168BAECC27B}"/>
              </a:ext>
            </a:extLst>
          </p:cNvPr>
          <p:cNvSpPr/>
          <p:nvPr/>
        </p:nvSpPr>
        <p:spPr>
          <a:xfrm>
            <a:off x="5897880" y="4617720"/>
            <a:ext cx="274320" cy="27432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125DC420-68FD-94DA-168C-8BC3E6EEABBB}"/>
              </a:ext>
            </a:extLst>
          </p:cNvPr>
          <p:cNvSpPr/>
          <p:nvPr/>
        </p:nvSpPr>
        <p:spPr>
          <a:xfrm>
            <a:off x="6183630" y="3429000"/>
            <a:ext cx="2377440" cy="201168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37160" tIns="137160" rIns="137160" rtlCol="0" anchor="t"/>
          <a:lstStyle/>
          <a:p>
            <a:pPr algn="ctr"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6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l">
              <a:defRPr sz="1100">
                <a:solidFill>
                  <a:srgbClr val="F0F0F0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Temporal features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Aggregations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Risk indicators</a:t>
            </a:r>
          </a:p>
        </p:txBody>
      </p:sp>
      <p:sp>
        <p:nvSpPr>
          <p:cNvPr id="22" name="Rounded Rectangle 13">
            <a:extLst>
              <a:ext uri="{FF2B5EF4-FFF2-40B4-BE49-F238E27FC236}">
                <a16:creationId xmlns:a16="http://schemas.microsoft.com/office/drawing/2014/main" id="{F0DE5134-8AB3-EBBC-1255-F3776175743A}"/>
              </a:ext>
            </a:extLst>
          </p:cNvPr>
          <p:cNvSpPr/>
          <p:nvPr/>
        </p:nvSpPr>
        <p:spPr>
          <a:xfrm>
            <a:off x="3154680" y="5564822"/>
            <a:ext cx="329184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gold_features.csv</a:t>
            </a:r>
            <a:b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5,905 records × 50+ features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F04764-F86A-2F0B-F293-49A9CAAD13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79495" y="6466205"/>
            <a:ext cx="2133600" cy="365125"/>
          </a:xfrm>
        </p:spPr>
        <p:txBody>
          <a:bodyPr/>
          <a:lstStyle/>
          <a:p>
            <a:fld id="{263F11CA-B161-43CE-9579-C8C81D3EFA38}" type="datetime2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February 12, 2026</a:t>
            </a:fld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60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42820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rPr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vs After: Data Quality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387164"/>
              </p:ext>
            </p:extLst>
          </p:nvPr>
        </p:nvGraphicFramePr>
        <p:xfrm>
          <a:off x="731520" y="1439729"/>
          <a:ext cx="7680960" cy="323468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7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253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Metric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Before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(%)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53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Values (Students)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8000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253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Values (Assessments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8000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253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 Students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8000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916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 Assessments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8000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253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Invalid Marks (Outliers)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8000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253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Records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6,717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6,494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8000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253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Completeness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8000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4904243"/>
            <a:ext cx="79552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Achievement: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006400"/>
                </a:solidFill>
              </a:defRPr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  <a:defRPr sz="1800" b="1">
                <a:solidFill>
                  <a:srgbClr val="006400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Quality Issue Elimination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  <a:defRPr sz="1800" b="1">
                <a:solidFill>
                  <a:srgbClr val="006400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97% Data Retention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  <a:defRPr sz="1800" b="1">
                <a:solidFill>
                  <a:srgbClr val="006400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Ready for Analytics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800" b="1">
                <a:solidFill>
                  <a:srgbClr val="0064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800" b="1">
                <a:solidFill>
                  <a:srgbClr val="0064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06402-FF66-AA6F-A1A8-2028353185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4502" y="6357620"/>
            <a:ext cx="2133600" cy="365125"/>
          </a:xfrm>
        </p:spPr>
        <p:txBody>
          <a:bodyPr/>
          <a:lstStyle/>
          <a:p>
            <a:fld id="{E6321E7B-995B-436D-AFDF-0F5CF0FC1D42}" type="datetime2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February 12, 2026</a:t>
            </a:fld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1701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rPr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 Preview: gold_features.csv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7680960" cy="97155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600">
                <a:solidFill>
                  <a:srgbClr val="C8DCFF"/>
                </a:solidFill>
              </a:defRPr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589 Students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 Courses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,5905 Assessments, 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50+ Features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Complete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Duplicates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152726"/>
              </p:ext>
            </p:extLst>
          </p:nvPr>
        </p:nvGraphicFramePr>
        <p:xfrm>
          <a:off x="731520" y="2505808"/>
          <a:ext cx="7680960" cy="26719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0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9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53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Student_ID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Avg_Mark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Fail_Count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Total_Credits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At_Risk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3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RPH0001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Huye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33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RPK0125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Kigali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80000"/>
                          </a:solidFill>
                        </a:defRPr>
                      </a:pPr>
                      <a:r>
                        <a:rPr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33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RPM0089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Musanze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33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RPH0156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Huye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80000"/>
                          </a:solidFill>
                        </a:defRPr>
                      </a:pPr>
                      <a:r>
                        <a:rPr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33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RPK0234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Kigali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4652" y="5286245"/>
            <a:ext cx="79552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646464"/>
                </a:solidFill>
              </a:defRPr>
            </a:pP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showing 5 of 5,905 records with key features</a:t>
            </a:r>
          </a:p>
          <a:p>
            <a:pPr algn="ctr">
              <a:defRPr sz="1200" i="1">
                <a:solidFill>
                  <a:srgbClr val="646464"/>
                </a:solidFill>
              </a:defRPr>
            </a:pP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dataset includes: Student demographics, Course details, Assessment scores, Engineered features (temporal, aggregations, risk flags)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200" i="1">
                <a:solidFill>
                  <a:srgbClr val="646464"/>
                </a:solidFill>
              </a:defRPr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036DDAD-19EF-BD42-A7B7-E5D91611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0" y="6380480"/>
            <a:ext cx="2133600" cy="365125"/>
          </a:xfrm>
        </p:spPr>
        <p:txBody>
          <a:bodyPr/>
          <a:lstStyle/>
          <a:p>
            <a:fld id="{064F9E08-3703-4DC4-B250-88C30B5405D4}" type="datetime2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February 12, 2026</a:t>
            </a:fld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13575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rPr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1: At-Risk Student Identification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6400800" cy="11887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 Students (15%) Identified as At-Risk</a:t>
            </a:r>
          </a:p>
          <a:p>
            <a:pPr algn="ctr">
              <a:spcBef>
                <a:spcPts val="1000"/>
              </a:spcBef>
              <a:defRPr sz="2000">
                <a:solidFill>
                  <a:srgbClr val="FFDCDC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Criteria: Average Mark &lt; 50%  OR  Failed Assessments ≥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542639"/>
            <a:ext cx="525220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5F2D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Distribution of At-Risk Students: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47846"/>
            <a:ext cx="2011680" cy="11887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Huye</a:t>
            </a:r>
          </a:p>
          <a:p>
            <a:pPr algn="ctr">
              <a:defRPr sz="1800">
                <a:solidFill>
                  <a:srgbClr val="DCDCDC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 students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(15% of campus)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156406"/>
            <a:ext cx="2011680" cy="11887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Kigali</a:t>
            </a:r>
          </a:p>
          <a:p>
            <a:pPr algn="ctr">
              <a:defRPr sz="1800">
                <a:solidFill>
                  <a:srgbClr val="DCDCDC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 students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(16% of campus)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5020" y="3246120"/>
            <a:ext cx="2011680" cy="11887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Musanze</a:t>
            </a:r>
          </a:p>
          <a:p>
            <a:pPr algn="ctr">
              <a:defRPr sz="1800">
                <a:solidFill>
                  <a:srgbClr val="DCDCDC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students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(15% of campus)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7ED2D12-7ADB-1880-5B4D-91F74B2B5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25076" y="6486306"/>
            <a:ext cx="2133600" cy="365125"/>
          </a:xfrm>
        </p:spPr>
        <p:txBody>
          <a:bodyPr/>
          <a:lstStyle/>
          <a:p>
            <a:fld id="{AEFF9157-2D4A-4D7D-88EB-6BB90E517351}" type="datetime2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February 12, 2026</a:t>
            </a:fld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D216-5191-C934-C1AA-63BF096F3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14700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Implications: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FA478-92BD-321E-EC11-4921989EE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685925"/>
            <a:ext cx="6400800" cy="3486150"/>
          </a:xfrm>
        </p:spPr>
        <p:txBody>
          <a:bodyPr/>
          <a:lstStyle/>
          <a:p>
            <a:pPr algn="l">
              <a:lnSpc>
                <a:spcPct val="150000"/>
              </a:lnSpc>
              <a:spcAft>
                <a:spcPts val="600"/>
              </a:spcAft>
              <a:defRPr sz="1500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intervention programs can target these 89 students before academic failure:</a:t>
            </a: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500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Tutoring, mentoring, and academic counseling resources can be allocated efficiently</a:t>
            </a: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500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Similar risk rates across campuses (15-16%) suggest system-wide factors</a:t>
            </a: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500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Risk flag enables automated monitoring and proactive student support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A2525-4BE1-A511-BA11-BF104B22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0" y="6492875"/>
            <a:ext cx="2133600" cy="365125"/>
          </a:xfrm>
        </p:spPr>
        <p:txBody>
          <a:bodyPr/>
          <a:lstStyle/>
          <a:p>
            <a:fld id="{55C25DE4-A86D-44BD-9719-F90C805CCD17}" type="datetime2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February 12, 2026</a:t>
            </a:fld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15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940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rPr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2: Attendance-Performance Correlation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4787" y="1683842"/>
            <a:ext cx="7107624" cy="94851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 Found</a:t>
            </a:r>
          </a:p>
          <a:p>
            <a:pPr>
              <a:spcBef>
                <a:spcPts val="1000"/>
              </a:spcBef>
              <a:defRPr sz="2400">
                <a:solidFill>
                  <a:srgbClr val="DCFFDC"/>
                </a:solidFill>
              </a:defRP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Excellent Attendance → +12% Higher Average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483382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by Attendance Category: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4787" y="3367161"/>
            <a:ext cx="1737360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Excellent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(&gt;90%)</a:t>
            </a:r>
          </a:p>
          <a:p>
            <a:pPr algn="ctr">
              <a:spcBef>
                <a:spcPts val="800"/>
              </a:spcBef>
              <a:defRPr sz="1300">
                <a:solidFill>
                  <a:srgbClr val="DCDCDC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Mark: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76.8%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3383280"/>
            <a:ext cx="1737360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(75-90%)</a:t>
            </a:r>
          </a:p>
          <a:p>
            <a:pPr algn="ctr">
              <a:spcBef>
                <a:spcPts val="800"/>
              </a:spcBef>
              <a:defRPr sz="1300">
                <a:solidFill>
                  <a:srgbClr val="DCDCDC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Mark: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69.2%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383280"/>
            <a:ext cx="1737360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(60-75%)</a:t>
            </a:r>
          </a:p>
          <a:p>
            <a:pPr algn="ctr">
              <a:spcBef>
                <a:spcPts val="800"/>
              </a:spcBef>
              <a:defRPr sz="1300">
                <a:solidFill>
                  <a:srgbClr val="DCDCDC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Mark: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383280"/>
            <a:ext cx="1737360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(&lt;60%)</a:t>
            </a:r>
          </a:p>
          <a:p>
            <a:pPr algn="ctr">
              <a:spcBef>
                <a:spcPts val="800"/>
              </a:spcBef>
              <a:defRPr sz="1300">
                <a:solidFill>
                  <a:srgbClr val="DCDCDC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Mark: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54.3%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EBF6445-7424-E812-2FC6-7EA50F08F1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0409" y="6538912"/>
            <a:ext cx="2133600" cy="365125"/>
          </a:xfrm>
        </p:spPr>
        <p:txBody>
          <a:bodyPr/>
          <a:lstStyle/>
          <a:p>
            <a:fld id="{C62CFBFE-6A5F-47A5-A25C-D0DDCCD8897B}" type="datetime2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February 12, 2026</a:t>
            </a:fld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12B3-EF9F-BF98-0B6A-F2137A1C4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989570" cy="1104583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5080D-A9A4-B709-2BA7-A2E12A8A5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207770"/>
            <a:ext cx="7989570" cy="409956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Finding: 22.5 percentage point difference between Excellent and Poor attendance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 Implications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Ø"/>
              <a:defRPr sz="14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monitoring critical for early identification of struggling students</a:t>
            </a: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Ø"/>
              <a:defRPr sz="14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alerts for students falling below 75% attendance threshold</a:t>
            </a: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Ø"/>
              <a:defRPr sz="14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Attendance improvement initiatives can directly boost academic performance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21DD9-B19F-A2B5-E0D2-599B1208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13785" y="6409373"/>
            <a:ext cx="2133600" cy="365125"/>
          </a:xfrm>
        </p:spPr>
        <p:txBody>
          <a:bodyPr/>
          <a:lstStyle/>
          <a:p>
            <a:fld id="{3B8008BE-925E-4FAE-829F-69DB167278BE}" type="datetime2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February 12, 2026</a:t>
            </a:fld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314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17465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rPr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Achievements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2377440" cy="16459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</a:p>
          <a:p>
            <a:pPr algn="ctr">
              <a:spcBef>
                <a:spcPts val="800"/>
              </a:spcBef>
              <a:defRPr sz="1300">
                <a:solidFill>
                  <a:srgbClr val="E6E6E6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missing values,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duplicates, and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outliers eliminated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377440" cy="16459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97%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Retention</a:t>
            </a:r>
          </a:p>
          <a:p>
            <a:pPr algn="ctr">
              <a:spcBef>
                <a:spcPts val="800"/>
              </a:spcBef>
              <a:defRPr sz="1300">
                <a:solidFill>
                  <a:srgbClr val="E6E6E6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data loss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cleaning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377440" cy="16459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8+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algn="ctr">
              <a:spcBef>
                <a:spcPts val="800"/>
              </a:spcBef>
              <a:defRPr sz="1300">
                <a:solidFill>
                  <a:srgbClr val="E6E6E6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Engineered features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advanced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91840"/>
            <a:ext cx="2377440" cy="16459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At-Risk</a:t>
            </a:r>
          </a:p>
          <a:p>
            <a:pPr algn="ctr">
              <a:spcBef>
                <a:spcPts val="800"/>
              </a:spcBef>
              <a:defRPr sz="1300">
                <a:solidFill>
                  <a:srgbClr val="E6E6E6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identified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intervention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291840"/>
            <a:ext cx="2377440" cy="16459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Campuses</a:t>
            </a:r>
          </a:p>
          <a:p>
            <a:pPr algn="ctr">
              <a:spcBef>
                <a:spcPts val="800"/>
              </a:spcBef>
              <a:defRPr sz="1300">
                <a:solidFill>
                  <a:srgbClr val="E6E6E6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integrated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single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91840"/>
            <a:ext cx="2377440" cy="16459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Ready</a:t>
            </a:r>
          </a:p>
          <a:p>
            <a:pPr algn="ctr">
              <a:spcBef>
                <a:spcPts val="800"/>
              </a:spcBef>
              <a:defRPr sz="1300">
                <a:solidFill>
                  <a:srgbClr val="E6E6E6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prepared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predictive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7181EF-EB9D-AD1B-224E-BBFB85DB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0" y="6538912"/>
            <a:ext cx="2133600" cy="365125"/>
          </a:xfrm>
        </p:spPr>
        <p:txBody>
          <a:bodyPr/>
          <a:lstStyle/>
          <a:p>
            <a:fld id="{91284CAD-F466-436C-8662-A0A59C57D444}" type="datetime2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February 12, 2026</a:t>
            </a:fld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8A452-66D4-937C-1EBC-988B3059D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Impact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F355F-304C-E0C1-5932-90D46273C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451292"/>
            <a:ext cx="8187396" cy="3739686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Rwanda Polytechnic to: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performance institution-wide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Identify at-risk students early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 evidence-based decisions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predictive models for student success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 reporting across campuses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2625-4DD6-A2B8-DF83-E133EA4B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0" y="6538912"/>
            <a:ext cx="2133600" cy="365125"/>
          </a:xfrm>
        </p:spPr>
        <p:txBody>
          <a:bodyPr/>
          <a:lstStyle/>
          <a:p>
            <a:fld id="{42C6F479-16FD-4CF4-80F4-03CB6D94A521}" type="datetime2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February 12, 2026</a:t>
            </a:fld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787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91B0-CDA9-9CCE-73DD-AB18D44B9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013143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835DD-1916-B7AF-B56C-EE655EE76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718310"/>
            <a:ext cx="7772400" cy="4450080"/>
          </a:xfrm>
        </p:spPr>
        <p:txBody>
          <a:bodyPr>
            <a:noAutofit/>
          </a:bodyPr>
          <a:lstStyle/>
          <a:p>
            <a:pPr marL="285750" indent="-285750" algn="l">
              <a:spcAft>
                <a:spcPts val="1400"/>
              </a:spcAft>
              <a:buFont typeface="Wingdings" panose="05000000000000000000" pitchFamily="2" charset="2"/>
              <a:buChar char="Ø"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transformed fragmented campus data into unified analytics dataset</a:t>
            </a:r>
          </a:p>
          <a:p>
            <a:pPr marL="285750" indent="-285750" algn="l">
              <a:spcAft>
                <a:spcPts val="1400"/>
              </a:spcAft>
              <a:buFont typeface="Wingdings" panose="05000000000000000000" pitchFamily="2" charset="2"/>
              <a:buChar char="Ø"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Achieved 100% data quality with systematic 6-phase preprocessing pipeline</a:t>
            </a:r>
          </a:p>
          <a:p>
            <a:pPr marL="285750" indent="-285750" algn="l">
              <a:spcAft>
                <a:spcPts val="1400"/>
              </a:spcAft>
              <a:buFont typeface="Wingdings" panose="05000000000000000000" pitchFamily="2" charset="2"/>
              <a:buChar char="Ø"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Created actionable insights: 89 at-risk students identified for intervention</a:t>
            </a:r>
          </a:p>
          <a:p>
            <a:pPr marL="285750" indent="-285750" algn="l">
              <a:spcAft>
                <a:spcPts val="1400"/>
              </a:spcAft>
              <a:buFont typeface="Wingdings" panose="05000000000000000000" pitchFamily="2" charset="2"/>
              <a:buChar char="Ø"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strong attendance-performance link (+12% for excellent attendance)</a:t>
            </a:r>
          </a:p>
          <a:p>
            <a:pPr marL="285750" indent="-285750" algn="l">
              <a:spcAft>
                <a:spcPts val="1400"/>
              </a:spcAft>
              <a:buFont typeface="Wingdings" panose="05000000000000000000" pitchFamily="2" charset="2"/>
              <a:buChar char="Ø"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Produced ML-ready dataset: 5,905 records × 50+ features</a:t>
            </a:r>
          </a:p>
          <a:p>
            <a:pPr marL="285750" indent="-285750" algn="l">
              <a:spcAft>
                <a:spcPts val="1400"/>
              </a:spcAft>
              <a:buFont typeface="Wingdings" panose="05000000000000000000" pitchFamily="2" charset="2"/>
              <a:buChar char="Ø"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Established replicable framework for institutional data integration</a:t>
            </a:r>
          </a:p>
          <a:p>
            <a:pPr algn="l"/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FC051-7DDF-6C3E-EF24-88A33AE904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0" y="6386513"/>
            <a:ext cx="2133600" cy="365125"/>
          </a:xfrm>
        </p:spPr>
        <p:txBody>
          <a:bodyPr/>
          <a:lstStyle/>
          <a:p>
            <a:fld id="{02916E06-2082-45E0-812B-E71893B1B727}" type="datetime2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February 12, 2026</a:t>
            </a:fld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323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725</Words>
  <Application>Microsoft Office PowerPoint</Application>
  <PresentationFormat>On-screen Show (4:3)</PresentationFormat>
  <Paragraphs>179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Multi-Campus Education Data Preprocessing Pipeline </vt:lpstr>
      <vt:lpstr>Phase Preprocessing Workflow </vt:lpstr>
      <vt:lpstr>PowerPoint Presentation</vt:lpstr>
      <vt:lpstr>PowerPoint Presentation</vt:lpstr>
      <vt:lpstr>PowerPoint Presentation</vt:lpstr>
      <vt:lpstr>Actionable Implications: </vt:lpstr>
      <vt:lpstr>PowerPoint Presentation</vt:lpstr>
      <vt:lpstr>Cont’ </vt:lpstr>
      <vt:lpstr>PowerPoint Presentation</vt:lpstr>
      <vt:lpstr>Project Impact </vt:lpstr>
      <vt:lpstr> 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Elyse</dc:creator>
  <cp:keywords/>
  <dc:description>generated using python-pptx</dc:description>
  <cp:lastModifiedBy>Administrator</cp:lastModifiedBy>
  <cp:revision>42</cp:revision>
  <dcterms:created xsi:type="dcterms:W3CDTF">2013-01-27T09:14:16Z</dcterms:created>
  <dcterms:modified xsi:type="dcterms:W3CDTF">2026-02-12T12:43:02Z</dcterms:modified>
  <cp:category/>
</cp:coreProperties>
</file>